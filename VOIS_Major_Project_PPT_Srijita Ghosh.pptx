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111" d="100"/>
          <a:sy n="111" d="100"/>
        </p:scale>
        <p:origin x="474" y="9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9/3/2026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9/3/2026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9/3/2026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9/3/2026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9/3/2026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srijita2004ghosh-svg/Seasonal-Agriculture-Performance-Analysis"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130059" y="3583914"/>
            <a:ext cx="6996024" cy="861497"/>
          </a:xfrm>
        </p:spPr>
        <p:txBody>
          <a:bodyPr vert="horz" lIns="91440" tIns="45720" rIns="91440" bIns="45720" rtlCol="0" anchor="t">
            <a:normAutofit fontScale="85000" lnSpcReduction="10000"/>
          </a:bodyPr>
          <a:lstStyle/>
          <a:p>
            <a:r>
              <a:rPr lang="en-US" b="0" dirty="0">
                <a:solidFill>
                  <a:schemeClr val="tx1"/>
                </a:solidFill>
              </a:rPr>
              <a:t>Student Name- Srijita Ghosh</a:t>
            </a:r>
            <a:endParaRPr lang="en-IN" b="0" dirty="0">
              <a:solidFill>
                <a:schemeClr val="tx1"/>
              </a:solidFill>
            </a:endParaRPr>
          </a:p>
          <a:p>
            <a:r>
              <a:rPr lang="en-US" b="0" dirty="0">
                <a:solidFill>
                  <a:schemeClr val="tx1"/>
                </a:solidFill>
              </a:rPr>
              <a:t>College Name- University of Engineering and Management, Kolkata</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3" y="2844750"/>
            <a:ext cx="9958007" cy="743448"/>
          </a:xfrm>
        </p:spPr>
        <p:txBody>
          <a:bodyPr>
            <a:normAutofit fontScale="90000"/>
          </a:bodyPr>
          <a:lstStyle/>
          <a:p>
            <a:r>
              <a:rPr lang="en-GB" sz="3200" dirty="0"/>
              <a:t>Project Title - </a:t>
            </a:r>
            <a:r>
              <a:rPr lang="en-IN" sz="3200" dirty="0"/>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3176362" cy="646331"/>
          </a:xfrm>
          <a:prstGeom prst="rect">
            <a:avLst/>
          </a:prstGeom>
          <a:noFill/>
        </p:spPr>
        <p:txBody>
          <a:bodyPr wrap="square" rtlCol="0">
            <a:spAutoFit/>
          </a:bodyPr>
          <a:lstStyle/>
          <a:p>
            <a:r>
              <a:rPr lang="en-US" b="1" dirty="0"/>
              <a:t>AICTE STU ID : (its available in your offer letter)</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517585" y="1875556"/>
            <a:ext cx="7927675" cy="3607987"/>
          </a:xfrm>
        </p:spPr>
        <p:txBody>
          <a:bodyPr vert="horz" lIns="91440" tIns="45720" rIns="91440" bIns="45720" rtlCol="0" anchor="t">
            <a:normAutofit fontScale="70000" lnSpcReduction="20000"/>
          </a:bodyPr>
          <a:lstStyle/>
          <a:p>
            <a:r>
              <a:rPr lang="en-IN" sz="2800" dirty="0"/>
              <a:t>Agriculture is strongly affected by seasonal changes in weather, soil conditions, water availability, farming practices and economic factors.</a:t>
            </a:r>
          </a:p>
          <a:p>
            <a:endParaRPr lang="en-IN" sz="2800" dirty="0"/>
          </a:p>
          <a:p>
            <a:r>
              <a:rPr lang="en-IN" sz="2800" dirty="0"/>
              <a:t>Because these factors change from season to season, agricultural output and financial performance may also vary.</a:t>
            </a:r>
          </a:p>
          <a:p>
            <a:endParaRPr lang="en-IN" sz="2800" dirty="0"/>
          </a:p>
          <a:p>
            <a:r>
              <a:rPr lang="en-IN" sz="2800" dirty="0"/>
              <a:t>This project aims to examine the available agricultural data and determine how farming performance differs across seasons, while identifying important trends, relationships and unusual patterns.</a:t>
            </a:r>
          </a:p>
          <a:p>
            <a:pPr>
              <a:lnSpc>
                <a:spcPct val="150000"/>
              </a:lnSpc>
            </a:pP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animEffect transition="in" filter="fade">
                                      <p:cBhvr>
                                        <p:cTn id="21" dur="1000"/>
                                        <p:tgtEl>
                                          <p:spTgt spid="2">
                                            <p:txEl>
                                              <p:pRg st="2" end="2"/>
                                            </p:txEl>
                                          </p:spTgt>
                                        </p:tgtEl>
                                      </p:cBhvr>
                                    </p:animEffect>
                                    <p:anim calcmode="lin" valueType="num">
                                      <p:cBhvr>
                                        <p:cTn id="22"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4" end="4"/>
                                            </p:txEl>
                                          </p:spTgt>
                                        </p:tgtEl>
                                        <p:attrNameLst>
                                          <p:attrName>style.visibility</p:attrName>
                                        </p:attrNameLst>
                                      </p:cBhvr>
                                      <p:to>
                                        <p:strVal val="visible"/>
                                      </p:to>
                                    </p:set>
                                    <p:animEffect transition="in" filter="fade">
                                      <p:cBhvr>
                                        <p:cTn id="28" dur="1000"/>
                                        <p:tgtEl>
                                          <p:spTgt spid="2">
                                            <p:txEl>
                                              <p:pRg st="4" end="4"/>
                                            </p:txEl>
                                          </p:spTgt>
                                        </p:tgtEl>
                                      </p:cBhvr>
                                    </p:animEffect>
                                    <p:anim calcmode="lin" valueType="num">
                                      <p:cBhvr>
                                        <p:cTn id="29"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400" y="805213"/>
            <a:ext cx="8923548" cy="830997"/>
          </a:xfrm>
        </p:spPr>
        <p:txBody>
          <a:bodyPr>
            <a:normAutofit fontScale="90000"/>
          </a:bodyPr>
          <a:lstStyle/>
          <a:p>
            <a:r>
              <a:rPr lang="en-GB" dirty="0"/>
              <a:t>Project Description</a:t>
            </a:r>
            <a:br>
              <a:rPr lang="en-GB" dirty="0"/>
            </a:br>
            <a:br>
              <a:rPr lang="en-GB" dirty="0"/>
            </a:br>
            <a:r>
              <a:rPr lang="en-IN" sz="1800" dirty="0"/>
              <a:t>The project focuses on analysing agricultural records collected from different farming conditions and seasons.</a:t>
            </a:r>
            <a:br>
              <a:rPr lang="en-IN" sz="1800" dirty="0"/>
            </a:br>
            <a:br>
              <a:rPr lang="en-IN" sz="1800" dirty="0"/>
            </a:br>
            <a:r>
              <a:rPr lang="en-IN" sz="1800" b="0" dirty="0"/>
              <a:t>The dataset is explored to understand variations in crop production, yield, profit, irrigation, water efficiency, environmental conditions and agricultural risk.</a:t>
            </a:r>
            <a:br>
              <a:rPr lang="en-IN" sz="1800" b="0" dirty="0"/>
            </a:br>
            <a:r>
              <a:rPr lang="en-IN" sz="1800" b="0" dirty="0"/>
              <a:t>The analysis involves:</a:t>
            </a:r>
            <a:br>
              <a:rPr lang="en-IN" sz="1800" b="0" dirty="0"/>
            </a:br>
            <a:r>
              <a:rPr lang="en-IN" sz="1800" dirty="0"/>
              <a:t>• Data preprocessing and cleaning</a:t>
            </a:r>
            <a:br>
              <a:rPr lang="en-IN" sz="1800" dirty="0"/>
            </a:br>
            <a:r>
              <a:rPr lang="en-IN" sz="1800" dirty="0"/>
              <a:t>• Exploratory data analysis</a:t>
            </a:r>
            <a:br>
              <a:rPr lang="en-IN" sz="1800" dirty="0"/>
            </a:br>
            <a:r>
              <a:rPr lang="en-IN" sz="1800" dirty="0"/>
              <a:t>• Seasonal comparison</a:t>
            </a:r>
            <a:br>
              <a:rPr lang="en-IN" sz="1800" dirty="0"/>
            </a:br>
            <a:r>
              <a:rPr lang="en-IN" sz="1800" dirty="0"/>
              <a:t>• Crop and irrigation analysis</a:t>
            </a:r>
            <a:br>
              <a:rPr lang="en-IN" sz="1800" dirty="0"/>
            </a:br>
            <a:r>
              <a:rPr lang="en-IN" sz="1800" dirty="0"/>
              <a:t>• Correlation analysis</a:t>
            </a:r>
            <a:br>
              <a:rPr lang="en-IN" sz="1800" dirty="0"/>
            </a:br>
            <a:r>
              <a:rPr lang="en-IN" sz="1800" dirty="0"/>
              <a:t>• Statistical testing</a:t>
            </a:r>
            <a:br>
              <a:rPr lang="en-IN" sz="1800" dirty="0"/>
            </a:br>
            <a:r>
              <a:rPr lang="en-IN" sz="1800" dirty="0"/>
              <a:t>• Data visualization</a:t>
            </a:r>
            <a:br>
              <a:rPr lang="en-IN" sz="1800" dirty="0"/>
            </a:br>
            <a:r>
              <a:rPr lang="en-IN" sz="1800" dirty="0"/>
              <a:t>• Interpretation of results</a:t>
            </a:r>
            <a:br>
              <a:rPr lang="en-IN" sz="1800" dirty="0"/>
            </a:br>
            <a:br>
              <a:rPr lang="en-IN" sz="1800" dirty="0"/>
            </a:br>
            <a:r>
              <a:rPr lang="en-IN" sz="1800" b="0" dirty="0"/>
              <a:t>The final findings are used to suggest ways in which agricultural planning can be improved.</a:t>
            </a:r>
            <a:br>
              <a:rPr lang="en-IN" sz="1800" b="0" dirty="0"/>
            </a:br>
            <a:br>
              <a:rPr lang="en-IN" sz="2000" b="0" dirty="0"/>
            </a:br>
            <a:br>
              <a:rPr lang="en-GB" sz="1200"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8155222" cy="3990023"/>
          </a:xfrm>
        </p:spPr>
        <p:txBody>
          <a:bodyPr>
            <a:normAutofit/>
          </a:bodyPr>
          <a:lstStyle/>
          <a:p>
            <a:r>
              <a:rPr lang="en-IN" sz="1800" b="1" dirty="0"/>
              <a:t>Farmers- </a:t>
            </a:r>
            <a:r>
              <a:rPr lang="en-IN" sz="1800" dirty="0"/>
              <a:t>Can use seasonal performance information to improve crop and resource planning.</a:t>
            </a:r>
          </a:p>
          <a:p>
            <a:r>
              <a:rPr lang="en-IN" sz="1800" b="1" dirty="0"/>
              <a:t>Agricultural Managers- </a:t>
            </a:r>
            <a:r>
              <a:rPr lang="en-IN" sz="1800" dirty="0"/>
              <a:t>Can compare productivity and profitability across different farming periods.</a:t>
            </a:r>
          </a:p>
          <a:p>
            <a:r>
              <a:rPr lang="en-IN" sz="1800" b="1" dirty="0"/>
              <a:t>Government &amp; Agricultural Planners</a:t>
            </a:r>
            <a:r>
              <a:rPr lang="en-IN" sz="1800" dirty="0"/>
              <a:t>- Can use data-based findings to support seasonal agricultural strategies.</a:t>
            </a:r>
          </a:p>
          <a:p>
            <a:r>
              <a:rPr lang="en-IN" sz="1800" b="1" dirty="0"/>
              <a:t>Irrigation Managers</a:t>
            </a:r>
            <a:r>
              <a:rPr lang="en-IN" sz="1800" dirty="0"/>
              <a:t>- Can examine water consumption and efficiency across irrigation methods.</a:t>
            </a:r>
          </a:p>
          <a:p>
            <a:r>
              <a:rPr lang="en-IN" sz="1800" b="1" dirty="0"/>
              <a:t>Researchers &amp; Analysts</a:t>
            </a:r>
            <a:r>
              <a:rPr lang="en-IN" sz="1800" dirty="0"/>
              <a:t>- Can use the findings as a basis for further agricultural research and predictive analysis.</a:t>
            </a:r>
          </a:p>
          <a:p>
            <a:pPr algn="just">
              <a:lnSpc>
                <a:spcPct val="150000"/>
              </a:lnSpc>
            </a:pPr>
            <a:endParaRPr lang="en-IN" sz="18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552754" y="940279"/>
            <a:ext cx="7865565" cy="5889905"/>
          </a:xfrm>
        </p:spPr>
        <p:txBody>
          <a:bodyPr>
            <a:normAutofit fontScale="77500" lnSpcReduction="20000"/>
          </a:bodyPr>
          <a:lstStyle/>
          <a:p>
            <a:pPr marL="0" indent="0">
              <a:lnSpc>
                <a:spcPct val="120000"/>
              </a:lnSpc>
              <a:buNone/>
            </a:pPr>
            <a:r>
              <a:rPr lang="en-IN" sz="2200" b="1" u="sng" dirty="0"/>
              <a:t>Programming Language</a:t>
            </a:r>
          </a:p>
          <a:p>
            <a:pPr marL="0" indent="0">
              <a:lnSpc>
                <a:spcPct val="120000"/>
              </a:lnSpc>
              <a:buNone/>
            </a:pPr>
            <a:r>
              <a:rPr lang="en-IN" dirty="0"/>
              <a:t>Python</a:t>
            </a:r>
          </a:p>
          <a:p>
            <a:pPr marL="0" indent="0">
              <a:lnSpc>
                <a:spcPct val="120000"/>
              </a:lnSpc>
              <a:buNone/>
            </a:pPr>
            <a:r>
              <a:rPr lang="en-IN" sz="2200" b="1" u="sng" dirty="0"/>
              <a:t>Environment</a:t>
            </a:r>
          </a:p>
          <a:p>
            <a:pPr marL="0" indent="0">
              <a:lnSpc>
                <a:spcPct val="120000"/>
              </a:lnSpc>
              <a:buNone/>
            </a:pPr>
            <a:r>
              <a:rPr lang="en-IN" dirty="0"/>
              <a:t>Google </a:t>
            </a:r>
            <a:r>
              <a:rPr lang="en-IN" dirty="0" err="1"/>
              <a:t>Colab</a:t>
            </a:r>
            <a:endParaRPr lang="en-IN" dirty="0"/>
          </a:p>
          <a:p>
            <a:pPr marL="0" indent="0">
              <a:lnSpc>
                <a:spcPct val="120000"/>
              </a:lnSpc>
              <a:buNone/>
            </a:pPr>
            <a:r>
              <a:rPr lang="en-IN" sz="2200" b="1" u="sng" dirty="0"/>
              <a:t>Libraries</a:t>
            </a:r>
          </a:p>
          <a:p>
            <a:pPr marL="0" indent="0">
              <a:lnSpc>
                <a:spcPct val="120000"/>
              </a:lnSpc>
              <a:buNone/>
            </a:pPr>
            <a:r>
              <a:rPr lang="en-IN" dirty="0"/>
              <a:t>• Pandas — Data manipulation and cleaning</a:t>
            </a:r>
            <a:br>
              <a:rPr lang="en-IN" dirty="0"/>
            </a:br>
            <a:r>
              <a:rPr lang="en-IN" dirty="0"/>
              <a:t>• NumPy — Numerical operations</a:t>
            </a:r>
            <a:br>
              <a:rPr lang="en-IN" dirty="0"/>
            </a:br>
            <a:r>
              <a:rPr lang="en-IN" dirty="0"/>
              <a:t>• Matplotlib — Graphs and visualizations</a:t>
            </a:r>
            <a:br>
              <a:rPr lang="en-IN" dirty="0"/>
            </a:br>
            <a:r>
              <a:rPr lang="en-IN" dirty="0"/>
              <a:t>• SciPy — Statistical analysis</a:t>
            </a:r>
          </a:p>
          <a:p>
            <a:pPr marL="0" indent="0">
              <a:lnSpc>
                <a:spcPct val="120000"/>
              </a:lnSpc>
              <a:buNone/>
            </a:pPr>
            <a:r>
              <a:rPr lang="en-IN" b="1" u="sng" dirty="0"/>
              <a:t>Data Source</a:t>
            </a:r>
          </a:p>
          <a:p>
            <a:pPr marL="0" indent="0">
              <a:lnSpc>
                <a:spcPct val="120000"/>
              </a:lnSpc>
              <a:buNone/>
            </a:pPr>
            <a:r>
              <a:rPr lang="en-IN" dirty="0"/>
              <a:t>CSV agricultural dataset</a:t>
            </a:r>
          </a:p>
          <a:p>
            <a:pPr marL="0" indent="0">
              <a:lnSpc>
                <a:spcPct val="120000"/>
              </a:lnSpc>
              <a:buNone/>
            </a:pPr>
            <a:r>
              <a:rPr lang="en-IN" sz="2200" b="1" dirty="0"/>
              <a:t>Analytical Methods</a:t>
            </a:r>
          </a:p>
          <a:p>
            <a:pPr marL="0" indent="0">
              <a:lnSpc>
                <a:spcPct val="120000"/>
              </a:lnSpc>
              <a:buNone/>
            </a:pPr>
            <a:r>
              <a:rPr lang="en-IN" dirty="0"/>
              <a:t>• Data Cleaning</a:t>
            </a:r>
            <a:br>
              <a:rPr lang="en-IN" dirty="0"/>
            </a:br>
            <a:r>
              <a:rPr lang="en-IN" dirty="0"/>
              <a:t>• Exploratory Data Analysis</a:t>
            </a:r>
            <a:br>
              <a:rPr lang="en-IN" dirty="0"/>
            </a:br>
            <a:r>
              <a:rPr lang="en-IN" dirty="0"/>
              <a:t>• Descriptive Statistics</a:t>
            </a:r>
            <a:br>
              <a:rPr lang="en-IN" dirty="0"/>
            </a:br>
            <a:r>
              <a:rPr lang="en-IN" dirty="0"/>
              <a:t>• Correlation Analysis</a:t>
            </a:r>
            <a:br>
              <a:rPr lang="en-IN" dirty="0"/>
            </a:br>
            <a:r>
              <a:rPr lang="en-IN" dirty="0"/>
              <a:t>• Statistical Testing</a:t>
            </a:r>
            <a:br>
              <a:rPr lang="en-IN" dirty="0"/>
            </a:br>
            <a:r>
              <a:rPr lang="en-IN" dirty="0"/>
              <a:t>• Data Visualization</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258792"/>
            <a:ext cx="5306291" cy="370936"/>
          </a:xfrm>
        </p:spPr>
        <p:txBody>
          <a:bodyPr>
            <a:normAutofit fontScale="90000"/>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7">
                                            <p:txEl>
                                              <p:pRg st="7" end="7"/>
                                            </p:txEl>
                                          </p:spTgt>
                                        </p:tgtEl>
                                        <p:attrNameLst>
                                          <p:attrName>style.visibility</p:attrName>
                                        </p:attrNameLst>
                                      </p:cBhvr>
                                      <p:to>
                                        <p:strVal val="visible"/>
                                      </p:to>
                                    </p:set>
                                    <p:animEffect transition="in" filter="fade">
                                      <p:cBhvr>
                                        <p:cTn id="63" dur="1000"/>
                                        <p:tgtEl>
                                          <p:spTgt spid="7">
                                            <p:txEl>
                                              <p:pRg st="7" end="7"/>
                                            </p:txEl>
                                          </p:spTgt>
                                        </p:tgtEl>
                                      </p:cBhvr>
                                    </p:animEffect>
                                    <p:anim calcmode="lin" valueType="num">
                                      <p:cBhvr>
                                        <p:cTn id="64"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7">
                                            <p:txEl>
                                              <p:pRg st="8" end="8"/>
                                            </p:txEl>
                                          </p:spTgt>
                                        </p:tgtEl>
                                        <p:attrNameLst>
                                          <p:attrName>style.visibility</p:attrName>
                                        </p:attrNameLst>
                                      </p:cBhvr>
                                      <p:to>
                                        <p:strVal val="visible"/>
                                      </p:to>
                                    </p:set>
                                    <p:animEffect transition="in" filter="fade">
                                      <p:cBhvr>
                                        <p:cTn id="70" dur="1000"/>
                                        <p:tgtEl>
                                          <p:spTgt spid="7">
                                            <p:txEl>
                                              <p:pRg st="8" end="8"/>
                                            </p:txEl>
                                          </p:spTgt>
                                        </p:tgtEl>
                                      </p:cBhvr>
                                    </p:animEffect>
                                    <p:anim calcmode="lin" valueType="num">
                                      <p:cBhvr>
                                        <p:cTn id="71"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72"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7">
                                            <p:txEl>
                                              <p:pRg st="9" end="9"/>
                                            </p:txEl>
                                          </p:spTgt>
                                        </p:tgtEl>
                                        <p:attrNameLst>
                                          <p:attrName>style.visibility</p:attrName>
                                        </p:attrNameLst>
                                      </p:cBhvr>
                                      <p:to>
                                        <p:strVal val="visible"/>
                                      </p:to>
                                    </p:set>
                                    <p:animEffect transition="in" filter="fade">
                                      <p:cBhvr>
                                        <p:cTn id="77" dur="1000"/>
                                        <p:tgtEl>
                                          <p:spTgt spid="7">
                                            <p:txEl>
                                              <p:pRg st="9" end="9"/>
                                            </p:txEl>
                                          </p:spTgt>
                                        </p:tgtEl>
                                      </p:cBhvr>
                                    </p:animEffect>
                                    <p:anim calcmode="lin" valueType="num">
                                      <p:cBhvr>
                                        <p:cTn id="78" dur="1000" fill="hold"/>
                                        <p:tgtEl>
                                          <p:spTgt spid="7">
                                            <p:txEl>
                                              <p:pRg st="9" end="9"/>
                                            </p:txEl>
                                          </p:spTgt>
                                        </p:tgtEl>
                                        <p:attrNameLst>
                                          <p:attrName>ppt_x</p:attrName>
                                        </p:attrNameLst>
                                      </p:cBhvr>
                                      <p:tavLst>
                                        <p:tav tm="0">
                                          <p:val>
                                            <p:strVal val="#ppt_x"/>
                                          </p:val>
                                        </p:tav>
                                        <p:tav tm="100000">
                                          <p:val>
                                            <p:strVal val="#ppt_x"/>
                                          </p:val>
                                        </p:tav>
                                      </p:tavLst>
                                    </p:anim>
                                    <p:anim calcmode="lin" valueType="num">
                                      <p:cBhvr>
                                        <p:cTn id="79" dur="1000" fill="hold"/>
                                        <p:tgtEl>
                                          <p:spTgt spid="7">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675957" y="1431693"/>
            <a:ext cx="4406345" cy="5055718"/>
          </a:xfrm>
        </p:spPr>
        <p:txBody>
          <a:bodyPr vert="horz" lIns="91440" tIns="45720" rIns="91440" bIns="45720" rtlCol="0" anchor="t">
            <a:normAutofit/>
          </a:bodyPr>
          <a:lstStyle/>
          <a:p>
            <a:pPr marL="0" indent="0">
              <a:buNone/>
            </a:pPr>
            <a:r>
              <a:rPr lang="en-IN" dirty="0"/>
              <a:t>This histogram represents the distribution of agricultural yield across the farms. The majority of observations are concentrated at relatively lower yield values, while a smaller number of observations have much higher yields. This creates a strong right-skewed distribution with a long tail toward higher values. One possible reason is that the dataset contains different types of crops, which naturally have very different yield ranges. Therefore, these high values should be investigated rather than automatically treated as errors.</a:t>
            </a:r>
          </a:p>
          <a:p>
            <a:pPr marL="0" indent="0">
              <a:buNone/>
            </a:pPr>
            <a:endParaRPr lang="en-IN" dirty="0"/>
          </a:p>
        </p:txBody>
      </p:sp>
      <p:pic>
        <p:nvPicPr>
          <p:cNvPr id="3" name="Picture 2">
            <a:extLst>
              <a:ext uri="{FF2B5EF4-FFF2-40B4-BE49-F238E27FC236}">
                <a16:creationId xmlns:a16="http://schemas.microsoft.com/office/drawing/2014/main" id="{8BFAF79C-1C6B-99E4-CA6C-66B9DBDC7628}"/>
              </a:ext>
            </a:extLst>
          </p:cNvPr>
          <p:cNvPicPr>
            <a:picLocks noChangeAspect="1"/>
          </p:cNvPicPr>
          <p:nvPr/>
        </p:nvPicPr>
        <p:blipFill>
          <a:blip r:embed="rId3"/>
          <a:stretch>
            <a:fillRect/>
          </a:stretch>
        </p:blipFill>
        <p:spPr>
          <a:xfrm>
            <a:off x="5194922" y="595223"/>
            <a:ext cx="5958310" cy="5973217"/>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675957" y="1431692"/>
            <a:ext cx="4508517" cy="5040227"/>
          </a:xfrm>
        </p:spPr>
        <p:txBody>
          <a:bodyPr>
            <a:normAutofit fontScale="92500" lnSpcReduction="20000"/>
          </a:bodyPr>
          <a:lstStyle/>
          <a:p>
            <a:pPr marL="0" indent="0">
              <a:buNone/>
            </a:pPr>
            <a:r>
              <a:rPr lang="en-IN" dirty="0"/>
              <a:t>This is my multivariate analysis, where I am comparing three different performance indicators together: average yield, average profit and average water efficiency. Since these variables have different units and scales, I normalized their values between zero and one. Kharif reaches the highest normalized value across all three indicators, while Rabi has intermediate values. Zaid has a normalized value of zero because it has the lowest value among the three seasons for these indicators. This graph therefore shows that Kharif has the strongest overall performance across these selected </a:t>
            </a:r>
            <a:r>
              <a:rPr lang="en-IN" dirty="0" err="1"/>
              <a:t>indicators.The</a:t>
            </a:r>
            <a:r>
              <a:rPr lang="en-IN" dirty="0"/>
              <a:t> zero value for Zaid does not mean that there is no data for Zaid. It means that Zaid is the minimum reference value after normalization.</a:t>
            </a:r>
          </a:p>
          <a:p>
            <a:pPr marL="0" indent="0">
              <a:buNone/>
            </a:pPr>
            <a:endParaRPr lang="en-IN" dirty="0"/>
          </a:p>
        </p:txBody>
      </p:sp>
      <p:pic>
        <p:nvPicPr>
          <p:cNvPr id="3" name="Picture 2">
            <a:extLst>
              <a:ext uri="{FF2B5EF4-FFF2-40B4-BE49-F238E27FC236}">
                <a16:creationId xmlns:a16="http://schemas.microsoft.com/office/drawing/2014/main" id="{98323CC3-6217-CC0A-03F3-BE189E320EBE}"/>
              </a:ext>
            </a:extLst>
          </p:cNvPr>
          <p:cNvPicPr>
            <a:picLocks noChangeAspect="1"/>
          </p:cNvPicPr>
          <p:nvPr/>
        </p:nvPicPr>
        <p:blipFill>
          <a:blip r:embed="rId3"/>
          <a:stretch>
            <a:fillRect/>
          </a:stretch>
        </p:blipFill>
        <p:spPr>
          <a:xfrm>
            <a:off x="5400136" y="641734"/>
            <a:ext cx="5648220" cy="5830186"/>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675957" y="1431692"/>
            <a:ext cx="4655167" cy="5040227"/>
          </a:xfrm>
        </p:spPr>
        <p:txBody>
          <a:bodyPr>
            <a:normAutofit fontScale="92500" lnSpcReduction="10000"/>
          </a:bodyPr>
          <a:lstStyle/>
          <a:p>
            <a:pPr marL="0" indent="0">
              <a:buNone/>
            </a:pPr>
            <a:r>
              <a:rPr lang="en-IN" dirty="0"/>
              <a:t>This scatter plot shows the relationship between water efficiency and agricultural yield. The X-axis represents water efficiency in tonnes per 1,000 cubic meters, while the Y-axis represents yield in tonnes per hectare. Each point represents an observation from the dataset. We can see an overall upward pattern, which means that higher water-efficiency values are generally associated with higher yields. Our correlation analysis gives a value of approximately 0.91, indicating a strong positive relationship. However, this is a correlation and does not mean that water efficiency alone causes higher yield, because other agricultural factors can also influence production.</a:t>
            </a:r>
          </a:p>
          <a:p>
            <a:pPr marL="0" indent="0">
              <a:buNone/>
            </a:pPr>
            <a:endParaRPr lang="en-IN" dirty="0"/>
          </a:p>
        </p:txBody>
      </p:sp>
      <p:pic>
        <p:nvPicPr>
          <p:cNvPr id="3" name="Picture 2">
            <a:extLst>
              <a:ext uri="{FF2B5EF4-FFF2-40B4-BE49-F238E27FC236}">
                <a16:creationId xmlns:a16="http://schemas.microsoft.com/office/drawing/2014/main" id="{A735DB67-F92D-6A60-563D-506627B932B7}"/>
              </a:ext>
            </a:extLst>
          </p:cNvPr>
          <p:cNvPicPr>
            <a:picLocks noChangeAspect="1"/>
          </p:cNvPicPr>
          <p:nvPr/>
        </p:nvPicPr>
        <p:blipFill>
          <a:blip r:embed="rId3"/>
          <a:stretch>
            <a:fillRect/>
          </a:stretch>
        </p:blipFill>
        <p:spPr>
          <a:xfrm>
            <a:off x="5658929" y="720484"/>
            <a:ext cx="5582140" cy="5847956"/>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612475" y="1431693"/>
            <a:ext cx="4718650" cy="4882864"/>
          </a:xfrm>
        </p:spPr>
        <p:txBody>
          <a:bodyPr>
            <a:normAutofit/>
          </a:bodyPr>
          <a:lstStyle/>
          <a:p>
            <a:pPr marL="0" indent="0">
              <a:buNone/>
            </a:pPr>
            <a:r>
              <a:rPr lang="en-IN" dirty="0"/>
              <a:t>This graph represents the average rainfall for each season. We can see that Kharif receives the highest average rainfall, approximately 849 </a:t>
            </a:r>
            <a:r>
              <a:rPr lang="en-IN" dirty="0" err="1"/>
              <a:t>millimeters</a:t>
            </a:r>
            <a:r>
              <a:rPr lang="en-IN" dirty="0"/>
              <a:t>. Rabi receives around 438 </a:t>
            </a:r>
            <a:r>
              <a:rPr lang="en-IN" dirty="0" err="1"/>
              <a:t>millimeters</a:t>
            </a:r>
            <a:r>
              <a:rPr lang="en-IN" dirty="0"/>
              <a:t>, while Zaid receives around 305 </a:t>
            </a:r>
            <a:r>
              <a:rPr lang="en-IN" dirty="0" err="1"/>
              <a:t>millimeters</a:t>
            </a:r>
            <a:r>
              <a:rPr lang="en-IN" dirty="0"/>
              <a:t>. Therefore, there is a clear decrease in rainfall from Kharif to Zaid. This environmental difference provides useful context when comparing agricultural performance across the three seasons.</a:t>
            </a:r>
          </a:p>
          <a:p>
            <a:pPr marL="0" indent="0">
              <a:buNone/>
            </a:pPr>
            <a:endParaRPr lang="en-IN" dirty="0"/>
          </a:p>
        </p:txBody>
      </p:sp>
      <p:pic>
        <p:nvPicPr>
          <p:cNvPr id="3" name="Picture 2">
            <a:extLst>
              <a:ext uri="{FF2B5EF4-FFF2-40B4-BE49-F238E27FC236}">
                <a16:creationId xmlns:a16="http://schemas.microsoft.com/office/drawing/2014/main" id="{24F93E50-259F-5F5A-3DE6-420EB5887F4D}"/>
              </a:ext>
            </a:extLst>
          </p:cNvPr>
          <p:cNvPicPr>
            <a:picLocks noChangeAspect="1"/>
          </p:cNvPicPr>
          <p:nvPr/>
        </p:nvPicPr>
        <p:blipFill>
          <a:blip r:embed="rId3"/>
          <a:stretch>
            <a:fillRect/>
          </a:stretch>
        </p:blipFill>
        <p:spPr>
          <a:xfrm>
            <a:off x="5556703" y="1085171"/>
            <a:ext cx="5557273" cy="5229386"/>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750497" y="1431692"/>
            <a:ext cx="5046453" cy="5233267"/>
          </a:xfrm>
        </p:spPr>
        <p:txBody>
          <a:bodyPr>
            <a:normAutofit lnSpcReduction="10000"/>
          </a:bodyPr>
          <a:lstStyle/>
          <a:p>
            <a:pPr marL="0" indent="0">
              <a:buNone/>
            </a:pPr>
            <a:r>
              <a:rPr lang="en-IN" dirty="0"/>
              <a:t>This heatmap shows the average yield across different states and seasons. The rows represent states and the columns represent Kharif, Rabi and Zaid seasons. The colour indicates the average yield, where yellow represents higher values and darker colours represent lower values. We can see that Punjab has the highest average yield in Rabi, at around 8.61 tonnes per hectare. Karnataka also performs very well during Zaid, at around 6.63 tonnes per hectare. On the other hand, Maharashtra has a relatively low Zaid yield of around 2.28 tonnes per hectare. Overall, this shows that seasonal agricultural performance varies from state to state, so agricultural planning should consider regional conditions.</a:t>
            </a:r>
          </a:p>
          <a:p>
            <a:pPr marL="0" indent="0">
              <a:buNone/>
            </a:pPr>
            <a:endParaRPr lang="en-IN" dirty="0"/>
          </a:p>
        </p:txBody>
      </p:sp>
      <p:pic>
        <p:nvPicPr>
          <p:cNvPr id="3" name="Picture 2">
            <a:extLst>
              <a:ext uri="{FF2B5EF4-FFF2-40B4-BE49-F238E27FC236}">
                <a16:creationId xmlns:a16="http://schemas.microsoft.com/office/drawing/2014/main" id="{B6A22CA8-DE12-ADF6-CCF1-85F9E250CA7D}"/>
              </a:ext>
            </a:extLst>
          </p:cNvPr>
          <p:cNvPicPr>
            <a:picLocks noChangeAspect="1"/>
          </p:cNvPicPr>
          <p:nvPr/>
        </p:nvPicPr>
        <p:blipFill>
          <a:blip r:embed="rId3"/>
          <a:stretch>
            <a:fillRect/>
          </a:stretch>
        </p:blipFill>
        <p:spPr>
          <a:xfrm>
            <a:off x="6310243" y="563629"/>
            <a:ext cx="5205800" cy="6101331"/>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193040"/>
            <a:ext cx="7174081" cy="704108"/>
          </a:xfrm>
        </p:spPr>
        <p:txBody>
          <a:bodyPr>
            <a:normAutofit fontScale="90000"/>
          </a:bodyPr>
          <a:lstStyle/>
          <a:p>
            <a:r>
              <a:rPr lang="en-IN" sz="4000" dirty="0"/>
              <a:t>Future scope</a:t>
            </a:r>
            <a:br>
              <a:rPr lang="en-IN" sz="4000" dirty="0"/>
            </a:br>
            <a:br>
              <a:rPr lang="en-IN" sz="4000" dirty="0"/>
            </a:br>
            <a:r>
              <a:rPr lang="en-IN" sz="1800" b="0" dirty="0"/>
              <a:t>• Incorporate agricultural data from multiple years to identify long-term trends.</a:t>
            </a:r>
            <a:br>
              <a:rPr lang="en-IN" sz="1800" b="0" dirty="0"/>
            </a:br>
            <a:br>
              <a:rPr lang="en-IN" sz="1800" b="0" dirty="0"/>
            </a:br>
            <a:r>
              <a:rPr lang="en-IN" sz="1800" b="0" dirty="0"/>
              <a:t>• Combine the dataset with historical weather and climate information.</a:t>
            </a:r>
            <a:br>
              <a:rPr lang="en-IN" sz="1800" b="0" dirty="0"/>
            </a:br>
            <a:br>
              <a:rPr lang="en-IN" sz="1800" b="0" dirty="0"/>
            </a:br>
            <a:r>
              <a:rPr lang="en-IN" sz="1800" b="0" dirty="0"/>
              <a:t>• Develop machine-learning models for predicting crop yield.</a:t>
            </a:r>
            <a:br>
              <a:rPr lang="en-IN" sz="1800" b="0" dirty="0"/>
            </a:br>
            <a:br>
              <a:rPr lang="en-IN" sz="1800" b="0" dirty="0"/>
            </a:br>
            <a:r>
              <a:rPr lang="en-IN" sz="1800" b="0" dirty="0"/>
              <a:t>• Build models for forecasting agricultural profitability.</a:t>
            </a:r>
            <a:br>
              <a:rPr lang="en-IN" sz="1800" b="0" dirty="0"/>
            </a:br>
            <a:br>
              <a:rPr lang="en-IN" sz="1800" b="0" dirty="0"/>
            </a:br>
            <a:r>
              <a:rPr lang="en-IN" sz="1800" b="0" dirty="0"/>
              <a:t>• Create crop-specific and region-specific recommendations.</a:t>
            </a:r>
            <a:br>
              <a:rPr lang="en-IN" sz="1800" b="0" dirty="0"/>
            </a:br>
            <a:br>
              <a:rPr lang="en-IN" sz="1800" b="0" dirty="0"/>
            </a:br>
            <a:r>
              <a:rPr lang="en-IN" sz="1800" b="0" dirty="0"/>
              <a:t>• Develop an interactive dashboard for farmers and agricultural planners.</a:t>
            </a:r>
            <a:br>
              <a:rPr lang="en-IN" sz="1800" b="0" dirty="0"/>
            </a:br>
            <a:br>
              <a:rPr lang="en-IN" sz="1800" b="0" dirty="0"/>
            </a:br>
            <a:r>
              <a:rPr lang="en-IN" sz="1800" b="0" dirty="0"/>
              <a:t>• Include future market-price information to improve profitability analysis.</a:t>
            </a:r>
            <a:br>
              <a:rPr lang="en-IN" sz="1800" b="0" dirty="0"/>
            </a:br>
            <a:br>
              <a:rPr lang="en-IN" sz="1800" b="0" dirty="0"/>
            </a:br>
            <a:r>
              <a:rPr lang="en-IN" sz="1800" b="0" dirty="0"/>
              <a:t>• </a:t>
            </a:r>
            <a:r>
              <a:rPr lang="en-IN" sz="1800" b="0" dirty="0" err="1"/>
              <a:t>Analyze</a:t>
            </a:r>
            <a:r>
              <a:rPr lang="en-IN" sz="1800" b="0" dirty="0"/>
              <a:t> fertilizer, pesticide and irrigation efficiency in greater detail.</a:t>
            </a:r>
            <a:br>
              <a:rPr lang="en-IN" sz="1800" b="0" dirty="0"/>
            </a:br>
            <a:endParaRPr lang="en-IN" sz="1800" b="0" dirty="0"/>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193040"/>
            <a:ext cx="4735798" cy="522952"/>
          </a:xfrm>
        </p:spPr>
        <p:txBody>
          <a:bodyPr>
            <a:normAutofit fontScale="90000"/>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DD35B000-DDD7-5AB2-6EFD-D78A84EAAC76}"/>
              </a:ext>
            </a:extLst>
          </p:cNvPr>
          <p:cNvSpPr txBox="1"/>
          <p:nvPr/>
        </p:nvSpPr>
        <p:spPr>
          <a:xfrm>
            <a:off x="569343" y="1052423"/>
            <a:ext cx="8859329" cy="646331"/>
          </a:xfrm>
          <a:prstGeom prst="rect">
            <a:avLst/>
          </a:prstGeom>
          <a:noFill/>
        </p:spPr>
        <p:txBody>
          <a:bodyPr wrap="square" rtlCol="0">
            <a:spAutoFit/>
          </a:bodyPr>
          <a:lstStyle/>
          <a:p>
            <a:r>
              <a:rPr lang="en-IN" dirty="0">
                <a:solidFill>
                  <a:srgbClr val="00B0F0"/>
                </a:solidFill>
                <a:hlinkClick r:id="rId3">
                  <a:extLst>
                    <a:ext uri="{A12FA001-AC4F-418D-AE19-62706E023703}">
                      <ahyp:hlinkClr xmlns:ahyp="http://schemas.microsoft.com/office/drawing/2018/hyperlinkcolor" val="tx"/>
                    </a:ext>
                  </a:extLst>
                </a:hlinkClick>
              </a:rPr>
              <a:t>https://github.com/srijita2004ghosh-svg/Seasonal-Agriculture-Performance-Analysis</a:t>
            </a:r>
            <a:endParaRPr lang="en-IN" dirty="0">
              <a:solidFill>
                <a:srgbClr val="00B0F0"/>
              </a:solidFill>
            </a:endParaRP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br>
              <a:rPr lang="en-IN" sz="3200" dirty="0"/>
            </a:br>
            <a:endParaRPr lang="en-IN" sz="3200" dirty="0"/>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CA5BD985-7D6F-3456-2C5D-ECCCCF9C960C}"/>
              </a:ext>
            </a:extLst>
          </p:cNvPr>
          <p:cNvPicPr>
            <a:picLocks noChangeAspect="1"/>
          </p:cNvPicPr>
          <p:nvPr/>
        </p:nvPicPr>
        <p:blipFill>
          <a:blip r:embed="rId3"/>
          <a:srcRect l="1" r="-403"/>
          <a:stretch>
            <a:fillRect/>
          </a:stretch>
        </p:blipFill>
        <p:spPr>
          <a:xfrm>
            <a:off x="675957" y="1474701"/>
            <a:ext cx="7225839" cy="5094152"/>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595</TotalTime>
  <Words>994</Words>
  <Application>Microsoft Office PowerPoint</Application>
  <PresentationFormat>Widescreen</PresentationFormat>
  <Paragraphs>46</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 Seasonal Agriculture Performance Analysis</vt:lpstr>
      <vt:lpstr>PROBLEM  STATEMENT</vt:lpstr>
      <vt:lpstr>Project Description  The project focuses on analysing agricultural records collected from different farming conditions and seasons.  The dataset is explored to understand variations in crop production, yield, profit, irrigation, water efficiency, environmental conditions and agricultural risk. The analysis involves: • Data preprocessing and cleaning • Exploratory data analysis • Seasonal comparison • Crop and irrigation analysis • Correlation analysis • Statistical testing • Data visualization • Interpretation of results  The final findings are used to suggest ways in which agricultural planning can be improved.    </vt:lpstr>
      <vt:lpstr>WHO ARE THE END USERS?</vt:lpstr>
      <vt:lpstr>Technology Used</vt:lpstr>
      <vt:lpstr>RESULTS </vt:lpstr>
      <vt:lpstr>RESULTS </vt:lpstr>
      <vt:lpstr>RESULTS </vt:lpstr>
      <vt:lpstr>RESULTS </vt:lpstr>
      <vt:lpstr>RESULTS </vt:lpstr>
      <vt:lpstr>Future scope  • Incorporate agricultural data from multiple years to identify long-term trends.  • Combine the dataset with historical weather and climate information.  • Develop machine-learning models for predicting crop yield.  • Build models for forecasting agricultural profitability.  • Create crop-specific and region-specific recommendations.  • Develop an interactive dashboard for farmers and agricultural planners.  • Include future market-price information to improve profitability analysis.  • Analyze fertilizer, pesticide and irrigation efficiency in greater detail. </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Samyak Biswas</cp:lastModifiedBy>
  <cp:revision>102</cp:revision>
  <dcterms:created xsi:type="dcterms:W3CDTF">2021-07-11T13:13:15Z</dcterms:created>
  <dcterms:modified xsi:type="dcterms:W3CDTF">2026-09-03T18:16:47Z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